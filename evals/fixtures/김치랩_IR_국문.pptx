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C2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algun Gothic"/>
              </a:rPr>
              <a:t>주식회사 김치랩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DDE8F5"/>
                </a:solidFill>
                <a:latin typeface="Malgun Gothic"/>
              </a:rPr>
              <a:t>AI 발효 제어 스마트 숙성고 'KimchiLab S1'</a:t>
            </a:r>
          </a:p>
          <a:p>
            <a:r>
              <a:rPr sz="1800" b="0">
                <a:solidFill>
                  <a:srgbClr val="DDE8F5"/>
                </a:solidFill>
                <a:latin typeface="Malgun Gothic"/>
              </a:rPr>
              <a:t>프리미엄 발효식품 D2C (가상 예시)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AABBCC"/>
                </a:solidFill>
                <a:latin typeface="Malgun Gothic"/>
              </a:rPr>
              <a:t>※ 본 자료는 jsbiz-global-ir 스킬 테스트용 가상 기업 예시입니다.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8C2F1B"/>
                </a:solidFill>
                <a:latin typeface="Malgun Gothic"/>
              </a:rPr>
              <a:t>1. 문제 인식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222222"/>
                </a:solidFill>
                <a:latin typeface="Malgun Gothic"/>
              </a:rPr>
              <a:t>· 김치냉장고는 보관만 할 뿐 '발효 품질'을 제어하지 못함</a:t>
            </a:r>
          </a:p>
          <a:p>
            <a:r>
              <a:rPr sz="1500" b="0">
                <a:solidFill>
                  <a:srgbClr val="222222"/>
                </a:solidFill>
                <a:latin typeface="Malgun Gothic"/>
              </a:rPr>
              <a:t>· 프리미엄 발효식품 수요 증가: 저염·비건 김치 시장 연 12% 성장 (aT, 2026)</a:t>
            </a:r>
          </a:p>
          <a:p>
            <a:r>
              <a:rPr sz="1500" b="0">
                <a:solidFill>
                  <a:srgbClr val="222222"/>
                </a:solidFill>
                <a:latin typeface="Malgun Gothic"/>
              </a:rPr>
              <a:t>· 소규모 반찬가게·레스토랑은 숙성 편차로 폐기율 8~12%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8C2F1B"/>
                </a:solidFill>
                <a:latin typeface="Malgun Gothic"/>
              </a:rPr>
              <a:t>2. 제품: KimchiLab S1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222222"/>
                </a:solidFill>
                <a:latin typeface="Malgun Gothic"/>
              </a:rPr>
              <a:t>· pH·CO2 센서로 발효 단계를 실시간 측정, AI가 온도 자동 제어</a:t>
            </a:r>
          </a:p>
          <a:p>
            <a:r>
              <a:rPr sz="1500" b="0">
                <a:solidFill>
                  <a:srgbClr val="222222"/>
                </a:solidFill>
                <a:latin typeface="Malgun Gothic"/>
              </a:rPr>
              <a:t>· '겉절이~묵은지' 7단계 숙성 프로파일 예약</a:t>
            </a:r>
          </a:p>
          <a:p>
            <a:r>
              <a:rPr sz="1500" b="0">
                <a:solidFill>
                  <a:srgbClr val="222222"/>
                </a:solidFill>
                <a:latin typeface="Malgun Gothic"/>
              </a:rPr>
              <a:t>· 앱에서 숙성 상태 확인·원격 제어</a:t>
            </a:r>
          </a:p>
          <a:p>
            <a:r>
              <a:rPr sz="1500" b="0">
                <a:solidFill>
                  <a:srgbClr val="222222"/>
                </a:solidFill>
                <a:latin typeface="Malgun Gothic"/>
              </a:rPr>
              <a:t>· B2B 모델(80L)과 가정용(25L) 2종</a:t>
            </a:r>
          </a:p>
        </p:txBody>
      </p:sp>
      <p:pic>
        <p:nvPicPr>
          <p:cNvPr id="4" name="Picture 3" descr="prod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463040"/>
            <a:ext cx="438912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8C2F1B"/>
                </a:solidFill>
                <a:latin typeface="Malgun Gothic"/>
              </a:rPr>
              <a:t>3. 트랙션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222222"/>
                </a:solidFill>
                <a:latin typeface="Malgun Gothic"/>
              </a:rPr>
              <a:t>· 와디즈 펀딩 2회 합계 3.2억 원 (달성률 1,840%)</a:t>
            </a:r>
          </a:p>
          <a:p>
            <a:r>
              <a:rPr sz="1500" b="0">
                <a:solidFill>
                  <a:srgbClr val="222222"/>
                </a:solidFill>
                <a:latin typeface="Malgun Gothic"/>
              </a:rPr>
              <a:t>· 가정용 누적 판매 2,100대, B2B 레스토랑 34곳</a:t>
            </a:r>
          </a:p>
          <a:p>
            <a:r>
              <a:rPr sz="1500" b="0">
                <a:solidFill>
                  <a:srgbClr val="222222"/>
                </a:solidFill>
                <a:latin typeface="Malgun Gothic"/>
              </a:rPr>
              <a:t>· 월 매출 7,600만 원 (2026.12), 6개월 CAGR +45%</a:t>
            </a:r>
          </a:p>
        </p:txBody>
      </p:sp>
      <p:pic>
        <p:nvPicPr>
          <p:cNvPr id="4" name="Picture 3" descr="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463040"/>
            <a:ext cx="43891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8C2F1B"/>
                </a:solidFill>
                <a:latin typeface="Malgun Gothic"/>
              </a:rPr>
              <a:t>4. 비즈니스 모델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222222"/>
                </a:solidFill>
                <a:latin typeface="Malgun Gothic"/>
              </a:rPr>
              <a:t>· 기기 판매 + 전용 김치키트 구독 (월 39,000원, 부착률 31%)</a:t>
            </a:r>
          </a:p>
          <a:p>
            <a:r>
              <a:rPr sz="1500" b="0">
                <a:solidFill>
                  <a:srgbClr val="222222"/>
                </a:solidFill>
                <a:latin typeface="Malgun Gothic"/>
              </a:rPr>
              <a:t>· B2B: 기기 렌탈 + 숙성 데이터 리포트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8C2F1B"/>
                </a:solidFill>
                <a:latin typeface="Malgun Gothic"/>
              </a:rPr>
              <a:t>5. 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222222"/>
                </a:solidFill>
                <a:latin typeface="Malgun Gothic"/>
              </a:rPr>
              <a:t>· 대표 이서준: 식품공학 박사, 발효식품 대기업 연구소 7년</a:t>
            </a:r>
          </a:p>
          <a:p>
            <a:r>
              <a:rPr sz="1500" b="0">
                <a:solidFill>
                  <a:srgbClr val="222222"/>
                </a:solidFill>
                <a:latin typeface="Malgun Gothic"/>
              </a:rPr>
              <a:t>· COO 최민아: D2C 커머스 마케팅 9년</a:t>
            </a:r>
          </a:p>
          <a:p>
            <a:r>
              <a:rPr sz="1500" b="0">
                <a:solidFill>
                  <a:srgbClr val="222222"/>
                </a:solidFill>
                <a:latin typeface="Malgun Gothic"/>
              </a:rPr>
              <a:t>· 총 8명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8C2F1B"/>
                </a:solidFill>
                <a:latin typeface="Malgun Gothic"/>
              </a:rPr>
              <a:t>6. 향후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222222"/>
                </a:solidFill>
                <a:latin typeface="Malgun Gothic"/>
              </a:rPr>
              <a:t>· 2027: 미국 H마트 입점 협의, K-Food 열풍 타고 북미 진출</a:t>
            </a:r>
          </a:p>
          <a:p>
            <a:r>
              <a:rPr sz="1500" b="0">
                <a:solidFill>
                  <a:srgbClr val="222222"/>
                </a:solidFill>
                <a:latin typeface="Malgun Gothic"/>
              </a:rPr>
              <a:t>· 뉴욕 K-스타트업 데모데이 참가 예정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